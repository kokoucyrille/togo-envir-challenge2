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1F2A24"/>
                </a:solidFill>
                <a:latin typeface="Calibri"/>
              </a:rPr>
              <a:t>Accès à l'électricité — Togo, 1998-2022 (% de la population)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Urbain</c:v>
                </c:pt>
              </c:strCache>
            </c:strRef>
          </c:tx>
          <c:spPr>
            <a:ln w="31750" cap="flat">
              <a:solidFill>
                <a:srgbClr val="1B5E8C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B5E8C"/>
              </a:solidFill>
              <a:ln w="9525" cap="flat">
                <a:solidFill>
                  <a:srgbClr val="1B5E8C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1998</c:v>
                </c:pt>
                <c:pt idx="2">
                  <c:v>2000</c:v>
                </c:pt>
                <c:pt idx="6">
                  <c:v>2004</c:v>
                </c:pt>
                <c:pt idx="10">
                  <c:v>2008</c:v>
                </c:pt>
                <c:pt idx="14">
                  <c:v>2012</c:v>
                </c:pt>
                <c:pt idx="18">
                  <c:v>2016</c:v>
                </c:pt>
                <c:pt idx="22">
                  <c:v>2020</c:v>
                </c:pt>
                <c:pt idx="24">
                  <c:v>2022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41.2</c:v>
                </c:pt>
                <c:pt idx="1">
                  <c:v>43</c:v>
                </c:pt>
                <c:pt idx="2">
                  <c:v>38.5</c:v>
                </c:pt>
                <c:pt idx="3">
                  <c:v>47.9</c:v>
                </c:pt>
                <c:pt idx="4">
                  <c:v>50.2</c:v>
                </c:pt>
                <c:pt idx="5">
                  <c:v>52.6</c:v>
                </c:pt>
                <c:pt idx="6">
                  <c:v>55</c:v>
                </c:pt>
                <c:pt idx="7">
                  <c:v>57.4</c:v>
                </c:pt>
                <c:pt idx="8">
                  <c:v>64.900000000000006</c:v>
                </c:pt>
                <c:pt idx="9">
                  <c:v>62.2</c:v>
                </c:pt>
                <c:pt idx="10">
                  <c:v>64.7</c:v>
                </c:pt>
                <c:pt idx="11">
                  <c:v>67.2</c:v>
                </c:pt>
                <c:pt idx="12">
                  <c:v>66.5</c:v>
                </c:pt>
                <c:pt idx="13">
                  <c:v>77.900000000000006</c:v>
                </c:pt>
                <c:pt idx="14">
                  <c:v>76.3</c:v>
                </c:pt>
                <c:pt idx="15">
                  <c:v>78.099999999999994</c:v>
                </c:pt>
                <c:pt idx="16">
                  <c:v>83.2</c:v>
                </c:pt>
                <c:pt idx="17">
                  <c:v>82</c:v>
                </c:pt>
                <c:pt idx="18">
                  <c:v>84.4</c:v>
                </c:pt>
                <c:pt idx="19">
                  <c:v>88.8</c:v>
                </c:pt>
                <c:pt idx="20">
                  <c:v>83.1</c:v>
                </c:pt>
                <c:pt idx="21">
                  <c:v>91.6</c:v>
                </c:pt>
                <c:pt idx="22">
                  <c:v>94</c:v>
                </c:pt>
                <c:pt idx="23">
                  <c:v>96.3</c:v>
                </c:pt>
                <c:pt idx="24">
                  <c:v>96.5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3E-44F1-B498-4794FF4C63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Rural</c:v>
                </c:pt>
              </c:strCache>
            </c:strRef>
          </c:tx>
          <c:spPr>
            <a:ln w="31750" cap="flat">
              <a:solidFill>
                <a:srgbClr val="D68C4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D68C45"/>
              </a:solidFill>
              <a:ln w="9525" cap="flat">
                <a:solidFill>
                  <a:srgbClr val="D68C45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1998</c:v>
                </c:pt>
                <c:pt idx="2">
                  <c:v>2000</c:v>
                </c:pt>
                <c:pt idx="6">
                  <c:v>2004</c:v>
                </c:pt>
                <c:pt idx="10">
                  <c:v>2008</c:v>
                </c:pt>
                <c:pt idx="14">
                  <c:v>2012</c:v>
                </c:pt>
                <c:pt idx="18">
                  <c:v>2016</c:v>
                </c:pt>
                <c:pt idx="22">
                  <c:v>2020</c:v>
                </c:pt>
                <c:pt idx="24">
                  <c:v>2022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3.1</c:v>
                </c:pt>
                <c:pt idx="1">
                  <c:v>3.13</c:v>
                </c:pt>
                <c:pt idx="2">
                  <c:v>6.4</c:v>
                </c:pt>
                <c:pt idx="3">
                  <c:v>5.4</c:v>
                </c:pt>
                <c:pt idx="4">
                  <c:v>6.5</c:v>
                </c:pt>
                <c:pt idx="5">
                  <c:v>7.6</c:v>
                </c:pt>
                <c:pt idx="6">
                  <c:v>8.6999999999999993</c:v>
                </c:pt>
                <c:pt idx="7">
                  <c:v>9.8000000000000007</c:v>
                </c:pt>
                <c:pt idx="8">
                  <c:v>7.4</c:v>
                </c:pt>
                <c:pt idx="9">
                  <c:v>11.8</c:v>
                </c:pt>
                <c:pt idx="10">
                  <c:v>12.9</c:v>
                </c:pt>
                <c:pt idx="11">
                  <c:v>13.9</c:v>
                </c:pt>
                <c:pt idx="12">
                  <c:v>9.3000000000000007</c:v>
                </c:pt>
                <c:pt idx="13">
                  <c:v>16.3</c:v>
                </c:pt>
                <c:pt idx="14">
                  <c:v>15.8</c:v>
                </c:pt>
                <c:pt idx="15">
                  <c:v>17.100000000000001</c:v>
                </c:pt>
                <c:pt idx="16">
                  <c:v>21.1</c:v>
                </c:pt>
                <c:pt idx="17">
                  <c:v>19.8</c:v>
                </c:pt>
                <c:pt idx="18">
                  <c:v>21</c:v>
                </c:pt>
                <c:pt idx="19">
                  <c:v>19.5</c:v>
                </c:pt>
                <c:pt idx="20">
                  <c:v>26.3</c:v>
                </c:pt>
                <c:pt idx="21">
                  <c:v>23.9</c:v>
                </c:pt>
                <c:pt idx="22">
                  <c:v>24.3</c:v>
                </c:pt>
                <c:pt idx="23">
                  <c:v>24.7</c:v>
                </c:pt>
                <c:pt idx="2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3E-44F1-B498-4794FF4C63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National</c:v>
                </c:pt>
              </c:strCache>
            </c:strRef>
          </c:tx>
          <c:spPr>
            <a:ln w="31750" cap="flat">
              <a:solidFill>
                <a:srgbClr val="6C757D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C757D"/>
              </a:solidFill>
              <a:ln w="9525" cap="flat">
                <a:solidFill>
                  <a:srgbClr val="6C757D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1998</c:v>
                </c:pt>
                <c:pt idx="2">
                  <c:v>2000</c:v>
                </c:pt>
                <c:pt idx="6">
                  <c:v>2004</c:v>
                </c:pt>
                <c:pt idx="10">
                  <c:v>2008</c:v>
                </c:pt>
                <c:pt idx="14">
                  <c:v>2012</c:v>
                </c:pt>
                <c:pt idx="18">
                  <c:v>2016</c:v>
                </c:pt>
                <c:pt idx="22">
                  <c:v>2020</c:v>
                </c:pt>
                <c:pt idx="24">
                  <c:v>2022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15.3</c:v>
                </c:pt>
                <c:pt idx="1">
                  <c:v>16.07</c:v>
                </c:pt>
                <c:pt idx="2">
                  <c:v>17</c:v>
                </c:pt>
                <c:pt idx="3">
                  <c:v>19.600000000000001</c:v>
                </c:pt>
                <c:pt idx="4">
                  <c:v>21.3</c:v>
                </c:pt>
                <c:pt idx="5">
                  <c:v>23</c:v>
                </c:pt>
                <c:pt idx="6">
                  <c:v>24.8</c:v>
                </c:pt>
                <c:pt idx="7">
                  <c:v>26.5</c:v>
                </c:pt>
                <c:pt idx="8">
                  <c:v>27.9</c:v>
                </c:pt>
                <c:pt idx="9">
                  <c:v>30</c:v>
                </c:pt>
                <c:pt idx="10">
                  <c:v>31.8</c:v>
                </c:pt>
                <c:pt idx="11">
                  <c:v>33.700000000000003</c:v>
                </c:pt>
                <c:pt idx="12">
                  <c:v>30.8</c:v>
                </c:pt>
                <c:pt idx="13">
                  <c:v>39.700000000000003</c:v>
                </c:pt>
                <c:pt idx="14">
                  <c:v>39.1</c:v>
                </c:pt>
                <c:pt idx="15">
                  <c:v>41</c:v>
                </c:pt>
                <c:pt idx="16">
                  <c:v>45.7</c:v>
                </c:pt>
                <c:pt idx="17">
                  <c:v>44.7</c:v>
                </c:pt>
                <c:pt idx="18">
                  <c:v>46.8</c:v>
                </c:pt>
                <c:pt idx="19">
                  <c:v>48</c:v>
                </c:pt>
                <c:pt idx="20">
                  <c:v>50</c:v>
                </c:pt>
                <c:pt idx="21">
                  <c:v>52.5</c:v>
                </c:pt>
                <c:pt idx="22">
                  <c:v>54.1</c:v>
                </c:pt>
                <c:pt idx="23">
                  <c:v>55.7</c:v>
                </c:pt>
                <c:pt idx="24">
                  <c:v>57.2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3E-44F1-B498-4794FF4C6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7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C75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1F2A24"/>
                </a:solidFill>
                <a:latin typeface="Calibri"/>
              </a:rPr>
              <a:t>Combustible principal de cuisson (2017)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Combustibles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8C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CBE-4B1E-8A6E-7636668683FF}"/>
              </c:ext>
            </c:extLst>
          </c:dPt>
          <c:dPt>
            <c:idx val="1"/>
            <c:bubble3D val="0"/>
            <c:spPr>
              <a:solidFill>
                <a:srgbClr val="8B5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BE-4B1E-8A6E-7636668683FF}"/>
              </c:ext>
            </c:extLst>
          </c:dPt>
          <c:dPt>
            <c:idx val="2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BE-4B1E-8A6E-7636668683FF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CBE-4B1E-8A6E-7636668683FF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CBE-4B1E-8A6E-7636668683FF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CBE-4B1E-8A6E-7636668683FF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Bois</c:v>
                </c:pt>
                <c:pt idx="1">
                  <c:v>Charbon de bois</c:v>
                </c:pt>
                <c:pt idx="2">
                  <c:v>Gaz (LPG)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51.8</c:v>
                </c:pt>
                <c:pt idx="1">
                  <c:v>37.6</c:v>
                </c:pt>
                <c:pt idx="2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CBE-4B1E-8A6E-763666868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C75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1F2A24"/>
                </a:solidFill>
                <a:latin typeface="Calibri"/>
              </a:rPr>
              <a:t>Émissions de GES par secteur — Togo, 2018 (Mt CO2e)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Émissions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A3-42D8-84C9-8B3AF3151291}"/>
              </c:ext>
            </c:extLst>
          </c:dPt>
          <c:dPt>
            <c:idx val="1"/>
            <c:invertIfNegative val="0"/>
            <c:bubble3D val="0"/>
            <c:spPr>
              <a:solidFill>
                <a:srgbClr val="1B5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A3-42D8-84C9-8B3AF3151291}"/>
              </c:ext>
            </c:extLst>
          </c:dPt>
          <c:dPt>
            <c:idx val="2"/>
            <c:invertIfNegative val="0"/>
            <c:bubble3D val="0"/>
            <c:spPr>
              <a:solidFill>
                <a:srgbClr val="D68C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A3-42D8-84C9-8B3AF3151291}"/>
              </c:ext>
            </c:extLst>
          </c:dPt>
          <c:dPt>
            <c:idx val="3"/>
            <c:invertIfNegative val="0"/>
            <c:bubble3D val="0"/>
            <c:spPr>
              <a:solidFill>
                <a:srgbClr val="6C75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A3-42D8-84C9-8B3AF315129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F2A24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Agriculture, foresterie
&amp; affectation des terres</c:v>
                </c:pt>
                <c:pt idx="1">
                  <c:v>Énergie</c:v>
                </c:pt>
                <c:pt idx="2">
                  <c:v>Procédés industriels
&amp; produits</c:v>
                </c:pt>
                <c:pt idx="3">
                  <c:v>Déchets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35.83</c:v>
                </c:pt>
                <c:pt idx="1">
                  <c:v>2.52</c:v>
                </c:pt>
                <c:pt idx="2">
                  <c:v>2.48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A3-42D8-84C9-8B3AF31512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</c:scaling>
        <c:delete val="0"/>
        <c:axPos val="b"/>
        <c:majorGridlines>
          <c:spPr>
            <a:ln w="9525" cap="flat">
              <a:solidFill>
                <a:srgbClr val="E7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fr-FR" sz="1050" b="0" i="0" u="none" strike="noStrike">
                <a:solidFill>
                  <a:srgbClr val="1F2A24"/>
                </a:solidFill>
                <a:latin typeface="Calibri"/>
              </a:rPr>
              <a:t>Tendance de la température maximale moyenne annuelle, 2013-2019 (°C/an)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Réchauffement</c:v>
                </c:pt>
              </c:strCache>
            </c:strRef>
          </c:tx>
          <c:spPr>
            <a:solidFill>
              <a:srgbClr val="B02E0C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Lomé</c:v>
                </c:pt>
                <c:pt idx="1">
                  <c:v>Tabligbo</c:v>
                </c:pt>
                <c:pt idx="2">
                  <c:v>Kouma
konda</c:v>
                </c:pt>
                <c:pt idx="3">
                  <c:v>Atakpamé</c:v>
                </c:pt>
                <c:pt idx="4">
                  <c:v>Sotouboua</c:v>
                </c:pt>
                <c:pt idx="5">
                  <c:v>Sokodé</c:v>
                </c:pt>
                <c:pt idx="6">
                  <c:v>Kara</c:v>
                </c:pt>
                <c:pt idx="7">
                  <c:v>Niamtougou</c:v>
                </c:pt>
                <c:pt idx="8">
                  <c:v>Mango</c:v>
                </c:pt>
                <c:pt idx="9">
                  <c:v>Dapaong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3.0000000000000001E-3</c:v>
                </c:pt>
                <c:pt idx="4">
                  <c:v>0</c:v>
                </c:pt>
                <c:pt idx="5">
                  <c:v>0</c:v>
                </c:pt>
                <c:pt idx="6">
                  <c:v>2.1000000000000001E-2</c:v>
                </c:pt>
                <c:pt idx="7">
                  <c:v>6.2E-2</c:v>
                </c:pt>
                <c:pt idx="8">
                  <c:v>8.5999999999999993E-2</c:v>
                </c:pt>
                <c:pt idx="9">
                  <c:v>0.104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66-40A3-864A-0AE84CC5AB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Refroidissement / stable</c:v>
                </c:pt>
              </c:strCache>
            </c:strRef>
          </c:tx>
          <c:spPr>
            <a:solidFill>
              <a:srgbClr val="1B5E8C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Lomé</c:v>
                </c:pt>
                <c:pt idx="1">
                  <c:v>Tabligbo</c:v>
                </c:pt>
                <c:pt idx="2">
                  <c:v>Kouma
konda</c:v>
                </c:pt>
                <c:pt idx="3">
                  <c:v>Atakpamé</c:v>
                </c:pt>
                <c:pt idx="4">
                  <c:v>Sotouboua</c:v>
                </c:pt>
                <c:pt idx="5">
                  <c:v>Sokodé</c:v>
                </c:pt>
                <c:pt idx="6">
                  <c:v>Kara</c:v>
                </c:pt>
                <c:pt idx="7">
                  <c:v>Niamtougou</c:v>
                </c:pt>
                <c:pt idx="8">
                  <c:v>Mango</c:v>
                </c:pt>
                <c:pt idx="9">
                  <c:v>Dapaong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-3.3000000000000002E-2</c:v>
                </c:pt>
                <c:pt idx="1">
                  <c:v>-2.1000000000000001E-2</c:v>
                </c:pt>
                <c:pt idx="2">
                  <c:v>-0.11</c:v>
                </c:pt>
                <c:pt idx="3">
                  <c:v>0</c:v>
                </c:pt>
                <c:pt idx="4">
                  <c:v>-6.5000000000000002E-2</c:v>
                </c:pt>
                <c:pt idx="5">
                  <c:v>-4.4999999999999998E-2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66-40A3-864A-0AE84CC5AB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1F2A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C75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fr-FR" sz="1050" b="0" i="0" u="none" strike="noStrike">
                <a:solidFill>
                  <a:srgbClr val="1F2A24"/>
                </a:solidFill>
                <a:latin typeface="Calibri"/>
              </a:rPr>
              <a:t>Couverture en forêts classées, par région (% du territoire régional)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Couverture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Kara</c:v>
                </c:pt>
                <c:pt idx="1">
                  <c:v>Centrale</c:v>
                </c:pt>
                <c:pt idx="2">
                  <c:v>Plateaux</c:v>
                </c:pt>
                <c:pt idx="3">
                  <c:v>Savanes</c:v>
                </c:pt>
                <c:pt idx="4">
                  <c:v>Maritime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2.1219999999999999</c:v>
                </c:pt>
                <c:pt idx="1">
                  <c:v>1.9379999999999999</c:v>
                </c:pt>
                <c:pt idx="2">
                  <c:v>1.8839999999999999</c:v>
                </c:pt>
                <c:pt idx="3">
                  <c:v>1.073</c:v>
                </c:pt>
                <c:pt idx="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79-48DA-AC32-E8F353A234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</c:scaling>
        <c:delete val="0"/>
        <c:axPos val="b"/>
        <c:majorGridlines>
          <c:spPr>
            <a:ln w="9525" cap="flat">
              <a:solidFill>
                <a:srgbClr val="E7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1F2A24"/>
                </a:solidFill>
                <a:latin typeface="Calibri"/>
              </a:rPr>
              <a:t>Situation observée · projection statistique · objectif officiel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 observée (2022)</c:v>
                </c:pt>
              </c:strCache>
            </c:strRef>
          </c:tx>
          <c:spPr>
            <a:solidFill>
              <a:srgbClr val="1B5E8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Accès élec.
rural</c:v>
                </c:pt>
                <c:pt idx="1">
                  <c:v>Accès élec.
urbain</c:v>
                </c:pt>
                <c:pt idx="2">
                  <c:v>Accès élec.
national</c:v>
                </c:pt>
                <c:pt idx="3">
                  <c:v>Cuisson propre
rurale</c:v>
                </c:pt>
                <c:pt idx="4">
                  <c:v>Cuisson propre
urbaine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96.5</c:v>
                </c:pt>
                <c:pt idx="2">
                  <c:v>57.2</c:v>
                </c:pt>
                <c:pt idx="3">
                  <c:v>0.9</c:v>
                </c:pt>
                <c:pt idx="4">
                  <c:v>24.2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57-45AF-915C-4639148F48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Projection statistique (2030)</c:v>
                </c:pt>
              </c:strCache>
            </c:strRef>
          </c:tx>
          <c:spPr>
            <a:solidFill>
              <a:srgbClr val="B02E0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Accès élec.
rural</c:v>
                </c:pt>
                <c:pt idx="1">
                  <c:v>Accès élec.
urbain</c:v>
                </c:pt>
                <c:pt idx="2">
                  <c:v>Accès élec.
national</c:v>
                </c:pt>
                <c:pt idx="3">
                  <c:v>Cuisson propre
rurale</c:v>
                </c:pt>
                <c:pt idx="4">
                  <c:v>Cuisson propre
urbaine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34.299999999999997</c:v>
                </c:pt>
                <c:pt idx="1">
                  <c:v>100</c:v>
                </c:pt>
                <c:pt idx="2">
                  <c:v>72</c:v>
                </c:pt>
                <c:pt idx="3">
                  <c:v>0.9</c:v>
                </c:pt>
                <c:pt idx="4">
                  <c:v>32.299999999999997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57-45AF-915C-4639148F48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Objectif officiel (2030)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Accès élec.
rural</c:v>
                </c:pt>
                <c:pt idx="1">
                  <c:v>Accès élec.
urbain</c:v>
                </c:pt>
                <c:pt idx="2">
                  <c:v>Accès élec.
national</c:v>
                </c:pt>
                <c:pt idx="3">
                  <c:v>Cuisson propre
rurale</c:v>
                </c:pt>
                <c:pt idx="4">
                  <c:v>Cuisson propre
urbaine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57-45AF-915C-4639148F4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A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7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C75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Divider Line"/>
          <p:cNvSpPr/>
          <p:nvPr/>
        </p:nvSpPr>
        <p:spPr>
          <a:xfrm flipH="1">
            <a:off x="6889364" y="0"/>
            <a:ext cx="115360" cy="68580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2"/>
          <p:cNvSpPr/>
          <p:nvPr/>
        </p:nvSpPr>
        <p:spPr>
          <a:xfrm>
            <a:off x="884561" y="1476429"/>
            <a:ext cx="55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kern="0" spc="3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RÉPUBLIQUE TOGOLAISE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-103074" y="2514722"/>
            <a:ext cx="7172325" cy="1022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fr-FR" sz="3000" b="1" dirty="0">
                <a:solidFill>
                  <a:schemeClr val="bg1"/>
                </a:solidFill>
                <a:latin typeface="Arial Black" panose="020B0A04020102020204" pitchFamily="34" charset="0"/>
              </a:rPr>
              <a:t>Diagnostic Énergie, Climat &amp; Forêts du Togo</a:t>
            </a:r>
          </a:p>
        </p:txBody>
      </p:sp>
      <p:sp>
        <p:nvSpPr>
          <p:cNvPr id="7" name="Text 4"/>
          <p:cNvSpPr/>
          <p:nvPr/>
        </p:nvSpPr>
        <p:spPr>
          <a:xfrm>
            <a:off x="746451" y="3730720"/>
            <a:ext cx="5250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Plateforme territoriale d'aide à la décision publique  Horizon 2030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936386" y="4602480"/>
            <a:ext cx="822960" cy="0"/>
          </a:xfrm>
          <a:prstGeom prst="line">
            <a:avLst/>
          </a:prstGeom>
          <a:noFill/>
          <a:ln w="25400">
            <a:solidFill>
              <a:srgbClr val="D68C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9839" y="4808213"/>
            <a:ext cx="525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DAYO Kokou Cyrille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228996" y="5251686"/>
            <a:ext cx="25440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des travaux </a:t>
            </a:r>
            <a:r>
              <a:rPr lang="en-US" sz="1250" dirty="0" err="1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0" y="6483080"/>
            <a:ext cx="6120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  2026</a:t>
            </a:r>
            <a:endParaRPr lang="en-US" sz="1000" dirty="0"/>
          </a:p>
        </p:txBody>
      </p:sp>
      <p:pic>
        <p:nvPicPr>
          <p:cNvPr id="13" name="Illustration Domaines" descr="Carte du Togo avec les cinq domaines d'étu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114" y="325080"/>
            <a:ext cx="4694804" cy="61580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E792347-843D-1A7A-891D-D97908F31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863" y="197033"/>
            <a:ext cx="1314450" cy="1101664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1811AA0E-6FB3-843E-2B0B-7385CED65903}"/>
              </a:ext>
            </a:extLst>
          </p:cNvPr>
          <p:cNvSpPr/>
          <p:nvPr/>
        </p:nvSpPr>
        <p:spPr>
          <a:xfrm>
            <a:off x="470194" y="1723397"/>
            <a:ext cx="632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l'Efficacité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Service Public et de la Transformation Numérique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253926AA-B17B-EB89-567F-36B67FCC2300}"/>
              </a:ext>
            </a:extLst>
          </p:cNvPr>
          <p:cNvSpPr/>
          <p:nvPr/>
        </p:nvSpPr>
        <p:spPr>
          <a:xfrm>
            <a:off x="804779" y="2019921"/>
            <a:ext cx="55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kern="0" spc="3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TOGO AI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APPROCHE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841248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diagnostic à la croisée de l'énergie, du climat et des forêts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02920" y="1810512"/>
            <a:ext cx="6446520" cy="1783080"/>
          </a:xfrm>
          <a:prstGeom prst="roundRect">
            <a:avLst>
              <a:gd name="adj" fmla="val 4615"/>
            </a:avLst>
          </a:prstGeom>
          <a:solidFill>
            <a:srgbClr val="EA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95681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2249424"/>
            <a:ext cx="5989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quelle mesure l'électrification, la biomasse domestique, les forêts et le climat sont-ils liés dans les données disponibles — et quelles priorités territoriales peuvent en être dégagées à l'horizon 2030 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78040" y="18288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MOBILISÉES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78040" y="2121408"/>
            <a:ext cx="44805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(WDI) — électrification, cuisson, forêts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national des émissions de GES (2018)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météorologique national — 10 stations (2013-2019)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national des forêts classées — 53 polygones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AXES D'ANALYSE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63500" dist="25400" dir="5400000" algn="bl" rotWithShape="0">
              <a:srgbClr val="3A4A4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61872" y="4334256"/>
            <a:ext cx="566928" cy="566928"/>
          </a:xfrm>
          <a:prstGeom prst="ellipse">
            <a:avLst/>
          </a:prstGeom>
          <a:solidFill>
            <a:srgbClr val="1B5E8C"/>
          </a:solidFill>
          <a:ln/>
        </p:spPr>
      </p:sp>
      <p:pic>
        <p:nvPicPr>
          <p:cNvPr id="24" name="Image 0" descr="icons_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73" y="4407957"/>
            <a:ext cx="419527" cy="41952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76072" y="500176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Électrification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734056" y="416052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63500" dist="25400" dir="5400000" algn="bl" rotWithShape="0">
              <a:srgbClr val="3A4A4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93008" y="4334256"/>
            <a:ext cx="566928" cy="566928"/>
          </a:xfrm>
          <a:prstGeom prst="ellipse">
            <a:avLst/>
          </a:prstGeom>
          <a:solidFill>
            <a:srgbClr val="D68C45"/>
          </a:solidFill>
          <a:ln/>
        </p:spPr>
      </p:sp>
      <p:pic>
        <p:nvPicPr>
          <p:cNvPr id="28" name="Image 1" descr="icons_flam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709" y="4407957"/>
            <a:ext cx="419527" cy="419527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807208" y="500176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Biomasse &amp; cuisson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965192" y="416052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63500" dist="25400" dir="5400000" algn="bl" rotWithShape="0">
              <a:srgbClr val="3A4A4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724144" y="4334256"/>
            <a:ext cx="566928" cy="566928"/>
          </a:xfrm>
          <a:prstGeom prst="ellipse">
            <a:avLst/>
          </a:prstGeom>
          <a:solidFill>
            <a:srgbClr val="6C757D"/>
          </a:solidFill>
          <a:ln/>
        </p:spPr>
      </p:sp>
      <p:pic>
        <p:nvPicPr>
          <p:cNvPr id="32" name="Image 2" descr="icons_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845" y="4407957"/>
            <a:ext cx="419527" cy="419527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038344" y="500176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Émissions de GES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7196328" y="416052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63500" dist="25400" dir="5400000" algn="bl" rotWithShape="0">
              <a:srgbClr val="3A4A4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7955280" y="4334256"/>
            <a:ext cx="566928" cy="566928"/>
          </a:xfrm>
          <a:prstGeom prst="ellipse">
            <a:avLst/>
          </a:prstGeom>
          <a:solidFill>
            <a:srgbClr val="7B4B94"/>
          </a:solidFill>
          <a:ln/>
        </p:spPr>
      </p:sp>
      <p:pic>
        <p:nvPicPr>
          <p:cNvPr id="36" name="Image 3" descr="icons_thermome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981" y="4407957"/>
            <a:ext cx="419527" cy="419527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69480" y="500176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Climatologie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9427464" y="416052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63500" dist="25400" dir="5400000" algn="bl" rotWithShape="0">
              <a:srgbClr val="3A4A4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10186416" y="433425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0" name="Image 4" descr="icons_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0117" y="4407957"/>
            <a:ext cx="419527" cy="419527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00616" y="500176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&amp; géospatial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502920" y="6016752"/>
            <a:ext cx="111858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30936" y="6016752"/>
            <a:ext cx="109298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: analyse descriptive + statistique + géospatiale + graphes + Machine Learning + projection 2030</a:t>
            </a:r>
            <a:endParaRPr lang="en-US" sz="900" dirty="0"/>
          </a:p>
        </p:txBody>
      </p:sp>
      <p:pic>
        <p:nvPicPr>
          <p:cNvPr id="44" name="Image 5" descr="logo_emble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L'ÉLECTRICITÉ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9959" y="841248"/>
            <a:ext cx="11952513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L'électrification progresse, mais la fracture ville–campagne demeure</a:t>
            </a:r>
            <a:endParaRPr lang="en-US" sz="27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1719072"/>
          <a:ext cx="6720840" cy="3456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882128" y="1719072"/>
            <a:ext cx="363931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991856" y="1810513"/>
            <a:ext cx="3419856" cy="6766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02E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71,5 pts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991856" y="2587752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ville–campagne en 2022 (contre 38,1 pts en 1998) — l'écart se creuse en absolu malgré la progression rurale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882128" y="3438144"/>
            <a:ext cx="363931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991856" y="3529585"/>
            <a:ext cx="3419856" cy="54711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8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991856" y="4311397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rural multiplié par 8 depuis 1998 : de 3,1 % à 25,0 % en 2022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5285232"/>
            <a:ext cx="111858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" y="5285232"/>
            <a:ext cx="109298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réseau : 94 % des entreprises touchées par des coupures (dernier point disponible, 2016 — Enterprise Surveys, pas un indicateur ménages). L'accès ne garantit pas la fiabilité.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 n'est donc pas uniquement de connecter davantage de populations, mais de proposer une électrification adaptée aux territoires et suffisamment fiable.</a:t>
            </a:r>
            <a:endParaRPr lang="en-US" sz="1150" dirty="0"/>
          </a:p>
        </p:txBody>
      </p:sp>
      <p:pic>
        <p:nvPicPr>
          <p:cNvPr id="27" name="Image 0" descr="logo_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DOMESTIQUE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841248"/>
            <a:ext cx="1118585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cuisson reste fortement dépendante du bois-énergie</a:t>
            </a:r>
            <a:endParaRPr lang="en-US" sz="27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1783080"/>
          <a:ext cx="3977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526280" y="1783080"/>
            <a:ext cx="33375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36008" y="1874521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02E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0,9 %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636008" y="2622133"/>
            <a:ext cx="31181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Cuisson propre en zone rurale (2022) — quasi nulle et stagnante depuis 2000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0" y="178308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65008" y="1874520"/>
            <a:ext cx="3346704" cy="54864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23,2 pts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065008" y="2620700"/>
            <a:ext cx="33467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cuisson propre ville/campagne (2022), contre 0,6 pt en 2000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26280" y="3502152"/>
            <a:ext cx="6995160" cy="1508760"/>
          </a:xfrm>
          <a:prstGeom prst="roundRect">
            <a:avLst>
              <a:gd name="adj" fmla="val 5455"/>
            </a:avLst>
          </a:prstGeom>
          <a:solidFill>
            <a:srgbClr val="EAF0EC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36118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89,4 %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4754880" y="43891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ménages togolais cuisinent encore au bois ou au charbon de bois (2017)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5193792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519379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DOMESTIQUE DU BOIS/CHARBON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352544" y="5294376"/>
            <a:ext cx="402336" cy="201168"/>
          </a:xfrm>
          <a:prstGeom prst="rightArrow">
            <a:avLst/>
          </a:prstGeom>
          <a:solidFill>
            <a:srgbClr val="6C757D"/>
          </a:solidFill>
          <a:ln/>
        </p:spPr>
      </p:sp>
      <p:sp>
        <p:nvSpPr>
          <p:cNvPr id="29" name="Shape 26"/>
          <p:cNvSpPr/>
          <p:nvPr/>
        </p:nvSpPr>
        <p:spPr>
          <a:xfrm>
            <a:off x="5428488" y="5164165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30" name="Text 27"/>
          <p:cNvSpPr/>
          <p:nvPr/>
        </p:nvSpPr>
        <p:spPr>
          <a:xfrm>
            <a:off x="5538216" y="5175305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SUR LES RESSOURCES FORESTIÈRES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énergétique doit aussi être pensée au niveau des usages domestiques, et pas uniquement au niveau de la production d'électricité.</a:t>
            </a:r>
            <a:endParaRPr lang="en-US" sz="1150" dirty="0"/>
          </a:p>
        </p:txBody>
      </p:sp>
      <p:pic>
        <p:nvPicPr>
          <p:cNvPr id="33" name="Image 0" descr="logo_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CARBONE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841248"/>
            <a:ext cx="1118585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forêt est au cœur du diagnostic carbone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02920" y="1783080"/>
            <a:ext cx="4160520" cy="1874520"/>
          </a:xfrm>
          <a:prstGeom prst="roundRect">
            <a:avLst>
              <a:gd name="adj" fmla="val 4390"/>
            </a:avLst>
          </a:prstGeom>
          <a:solidFill>
            <a:srgbClr val="EA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19202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2E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- 1 554 km²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4088" y="2651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forêt perdus depuis 1990 (~50 km²/an, soit 5 011 ha/an) — 11,4 % du couvert forestier de 1990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94760"/>
            <a:ext cx="41605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" y="3886200"/>
            <a:ext cx="3941064" cy="6126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13 617 à 12 063 km²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9224" y="4572000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forestière observée, de 1990 à 2021 (mesure télédétection, source WDI)</a:t>
            </a:r>
            <a:endParaRPr lang="en-US" sz="10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3732560416"/>
              </p:ext>
            </p:extLst>
          </p:nvPr>
        </p:nvGraphicFramePr>
        <p:xfrm>
          <a:off x="4773168" y="1792224"/>
          <a:ext cx="69951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526280" y="5138928"/>
            <a:ext cx="6995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AFAT = 87,7 %  ·  Énergie = 6,2 %  ·  Procédés industriels = 6,1 %  ·  Déchets = 0,03 %   (total 40,8 Mt CO2e)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" y="5358384"/>
            <a:ext cx="111858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" y="5358384"/>
            <a:ext cx="109298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d'unité (audit) : le fichier source exprime les valeurs en Gg (kilotonnes), pas en Mt — conversion Gg÷1000 appliquée ; les pourcentages sectoriels, eux, sont inchangés.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données analysées, la gestion des terres et des forêts pèse bien plus lourd que la production électrique dans le bilan carbone national.</a:t>
            </a:r>
            <a:endParaRPr lang="en-US" sz="1150" dirty="0"/>
          </a:p>
        </p:txBody>
      </p:sp>
      <p:pic>
        <p:nvPicPr>
          <p:cNvPr id="28" name="Image 0" descr="logo_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CLIMATIQUE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9918" y="841248"/>
            <a:ext cx="1166326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Nord présente un signal climatique plus marqué, mais les séries restent courtes</a:t>
            </a:r>
            <a:endParaRPr lang="en-US" sz="27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1737360"/>
          <a:ext cx="6949440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635240" y="1737360"/>
            <a:ext cx="38862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44968" y="1828800"/>
            <a:ext cx="3666744" cy="6766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02E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10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744968" y="2660904"/>
            <a:ext cx="366674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présente une tendance Mann-Kendall statistiquement significative à 5 % — Mango (p = 0,026)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35240" y="3456432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63256" y="3456432"/>
            <a:ext cx="3630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d'observation courte (7 ans, 2013-2019) : signal indicatif, pas une tendance climatique robuste au sens de l'OMM (séries ≥ 30 ans recommandées).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635240" y="4261104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EAF0EC"/>
          </a:solidFill>
          <a:ln/>
        </p:spPr>
      </p:sp>
      <p:sp>
        <p:nvSpPr>
          <p:cNvPr id="23" name="Text 20"/>
          <p:cNvSpPr/>
          <p:nvPr/>
        </p:nvSpPr>
        <p:spPr>
          <a:xfrm>
            <a:off x="7818120" y="4315968"/>
            <a:ext cx="35204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Sud-Nord : refroidissement/stabilité observé au Sud (Kouma Konda, Sotouboua, Sokodé, Lomé) contre un réchauffement plus net au Nord (Niamtougou, Mango, Dapaong).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suggèrent un signal de réchauffement plus marqué au Nord, mais ne permettent pas de conclure à une tendance climatique robuste pour l'ensemble des stations.</a:t>
            </a:r>
            <a:endParaRPr lang="en-US" sz="1150" dirty="0"/>
          </a:p>
        </p:txBody>
      </p:sp>
      <p:pic>
        <p:nvPicPr>
          <p:cNvPr id="26" name="Image 0" descr="logo_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GÉOSPATIALE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571" y="841248"/>
            <a:ext cx="11607281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Toutes les forêts ne jouent pas le même rôle dans le réseau territorial</a:t>
            </a:r>
            <a:endParaRPr lang="en-US" sz="2700" dirty="0"/>
          </a:p>
        </p:txBody>
      </p:sp>
      <p:pic>
        <p:nvPicPr>
          <p:cNvPr id="16" name="Image 0" descr="carte_for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5" y="1696119"/>
            <a:ext cx="1194910" cy="3520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526694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classées par région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(cadastre, n = 53)</a:t>
            </a:r>
            <a:endParaRPr lang="en-US" sz="850" dirty="0"/>
          </a:p>
        </p:txBody>
      </p:sp>
      <p:pic>
        <p:nvPicPr>
          <p:cNvPr id="18" name="Image 1" descr="reseau_centra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396" y="1719072"/>
            <a:ext cx="1239248" cy="35204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06040" y="526694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proximité (k = 4)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= centralité d'intermédiarité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526280" y="1719072"/>
            <a:ext cx="21945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636008" y="1810513"/>
            <a:ext cx="1975104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4654296" y="2414016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classées cataloguées (915 km² au total, médiane 3,9 km²)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858000" y="1719072"/>
            <a:ext cx="21945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967728" y="1810513"/>
            <a:ext cx="1975104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B4B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6989597" y="2395728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prioritaires à centralité robuste (K = 3 à 6 voisins testés)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189720" y="1719072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9299448" y="1810512"/>
            <a:ext cx="2331720" cy="36576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C75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Proxy, pas preuve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9261043" y="2197302"/>
            <a:ext cx="2226564" cy="692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centralité d'intermédiarité est un proxy de proximité géographique, pas une connectivité écologique prouvée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526280" y="3090672"/>
            <a:ext cx="6995160" cy="1417320"/>
          </a:xfrm>
          <a:prstGeom prst="roundRect">
            <a:avLst>
              <a:gd name="adj" fmla="val 5806"/>
            </a:avLst>
          </a:prstGeom>
          <a:solidFill>
            <a:srgbClr val="FBF3EA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27448" y="3182112"/>
            <a:ext cx="659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URGENCE CORRIDOR »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727448" y="3474720"/>
            <a:ext cx="6592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à la fois vulnérables et structurellement centrales dans le réseau de proximité — parmi les plus robustes : Forêt classée des Deux Bena, Assoukoko, Azakpeve et Sirika. Ce sont des candidates prioritaires pour des interventions combinées.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526280" y="4645152"/>
            <a:ext cx="6995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54296" y="4645152"/>
            <a:ext cx="6739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cadastre utilisé porte sur les forêts classées présentes dans le jeu de données ; il ne doit pas être assimilé à l'ensemble des aires protégées nationales.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géospatiale transforme un inventaire de forêts en une lecture structurée des priorités territoriales.</a:t>
            </a:r>
            <a:endParaRPr lang="en-US" sz="1150" dirty="0"/>
          </a:p>
        </p:txBody>
      </p:sp>
      <p:pic>
        <p:nvPicPr>
          <p:cNvPr id="36" name="Image 2" descr="logo_embl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TERRITORIALE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41" y="841248"/>
            <a:ext cx="1150464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une allocation territoriale plus ciblée des interventions</a:t>
            </a:r>
            <a:endParaRPr lang="en-US" sz="27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1737360"/>
          <a:ext cx="5532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80644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PRIORITÉ TERRITORIALE — PONDÉRATION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2103120"/>
            <a:ext cx="109728" cy="109728"/>
          </a:xfrm>
          <a:prstGeom prst="rect">
            <a:avLst/>
          </a:prstGeom>
          <a:solidFill>
            <a:srgbClr val="B02E0C"/>
          </a:solidFill>
          <a:ln/>
        </p:spPr>
      </p:sp>
      <p:sp>
        <p:nvSpPr>
          <p:cNvPr id="19" name="Text 16"/>
          <p:cNvSpPr/>
          <p:nvPr/>
        </p:nvSpPr>
        <p:spPr>
          <a:xfrm>
            <a:off x="6007608" y="204825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 forestière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927080" y="20482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02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806440" y="2404872"/>
            <a:ext cx="109728" cy="1097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9"/>
          <p:cNvSpPr/>
          <p:nvPr/>
        </p:nvSpPr>
        <p:spPr>
          <a:xfrm>
            <a:off x="6007608" y="23500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couverture protégée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927080" y="235000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806440" y="2706624"/>
            <a:ext cx="109728" cy="109728"/>
          </a:xfrm>
          <a:prstGeom prst="rect">
            <a:avLst/>
          </a:prstGeom>
          <a:solidFill>
            <a:srgbClr val="7B4B94"/>
          </a:solidFill>
          <a:ln/>
        </p:spPr>
      </p:sp>
      <p:sp>
        <p:nvSpPr>
          <p:cNvPr id="25" name="Text 22"/>
          <p:cNvSpPr/>
          <p:nvPr/>
        </p:nvSpPr>
        <p:spPr>
          <a:xfrm>
            <a:off x="6007608" y="265176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Centralité structurelle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927080" y="265176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4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806440" y="3008376"/>
            <a:ext cx="109728" cy="109728"/>
          </a:xfrm>
          <a:prstGeom prst="rect">
            <a:avLst/>
          </a:prstGeom>
          <a:solidFill>
            <a:srgbClr val="D68C45"/>
          </a:solidFill>
          <a:ln/>
        </p:spPr>
      </p:sp>
      <p:sp>
        <p:nvSpPr>
          <p:cNvPr id="28" name="Text 25"/>
          <p:cNvSpPr/>
          <p:nvPr/>
        </p:nvSpPr>
        <p:spPr>
          <a:xfrm>
            <a:off x="6007608" y="295351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Biomasse (proxy national)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927080" y="29535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806440" y="3310128"/>
            <a:ext cx="109728" cy="109728"/>
          </a:xfrm>
          <a:prstGeom prst="rect">
            <a:avLst/>
          </a:prstGeom>
          <a:solidFill>
            <a:srgbClr val="1B5E8C"/>
          </a:solidFill>
          <a:ln/>
        </p:spPr>
      </p:sp>
      <p:sp>
        <p:nvSpPr>
          <p:cNvPr id="31" name="Text 28"/>
          <p:cNvSpPr/>
          <p:nvPr/>
        </p:nvSpPr>
        <p:spPr>
          <a:xfrm>
            <a:off x="6007608" y="325526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électrique (proxy national)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927080" y="32552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806440" y="3611880"/>
            <a:ext cx="5852160" cy="1481328"/>
          </a:xfrm>
          <a:prstGeom prst="roundRect">
            <a:avLst>
              <a:gd name="adj" fmla="val 5556"/>
            </a:avLst>
          </a:prstGeom>
          <a:solidFill>
            <a:srgbClr val="EAF0EC"/>
          </a:solidFill>
          <a:ln/>
        </p:spPr>
      </p:sp>
      <p:sp>
        <p:nvSpPr>
          <p:cNvPr id="34" name="Text 31"/>
          <p:cNvSpPr/>
          <p:nvPr/>
        </p:nvSpPr>
        <p:spPr>
          <a:xfrm>
            <a:off x="6007608" y="3712464"/>
            <a:ext cx="5449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Région Maritime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007608" y="4041648"/>
            <a:ext cx="54498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au score composite : 10 forêts classées (19 % du total national), mais seulement 0,010 % de couverture rapportée à sa superficie — la plus faible des 5 régions.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" y="5285232"/>
            <a:ext cx="1118585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" y="5285232"/>
            <a:ext cx="109298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assumée : l'accès à l'électricité et la biomasse ne sont pas disponibles à l'échelle régionale ; un proxy national est appliqué uniformément aux 5 régions.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permet de passer d'un diagnostic national à une logique de priorisation territoriale, tout en conservant une lecture prudente des données disponibles.</a:t>
            </a:r>
            <a:endParaRPr lang="en-US" sz="1150" dirty="0"/>
          </a:p>
        </p:txBody>
      </p:sp>
      <p:pic>
        <p:nvPicPr>
          <p:cNvPr id="40" name="Image 0" descr="logo_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902" y="841248"/>
            <a:ext cx="1155129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l'horizon 2030, l'accélération devient déterminante</a:t>
            </a:r>
            <a:endParaRPr lang="en-US" sz="27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1737360"/>
          <a:ext cx="7955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9006840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BF3EA"/>
          </a:solidFill>
          <a:ln w="12700">
            <a:solidFill>
              <a:srgbClr val="D68C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i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projection statistique n'est pas un objectif gouvernemental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006840" y="26517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16568" y="2743200"/>
            <a:ext cx="2432304" cy="5120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2E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79,1 pts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101023" y="3275076"/>
            <a:ext cx="2432304" cy="6111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projeté le plus critique : cuisson propre rurale, quasi stagnante à l'horizon 2030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006840" y="416052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2"/>
            </a:solidFill>
            <a:prstDash val="solid"/>
          </a:ln>
          <a:effectLst>
            <a:outerShdw blurRad="76200" dist="25400" dir="5400000" algn="bl" rotWithShape="0">
              <a:srgbClr val="3A4A4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116568" y="4251961"/>
            <a:ext cx="2432304" cy="4480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65,7 pts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144000" y="4777740"/>
            <a:ext cx="2432304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projeté pour l'accès à l'électricité rurale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5779008"/>
            <a:ext cx="11185855" cy="457200"/>
          </a:xfrm>
          <a:prstGeom prst="roundRect">
            <a:avLst>
              <a:gd name="adj" fmla="val 16000"/>
            </a:avLst>
          </a:prstGeom>
          <a:solidFill>
            <a:srgbClr val="EAF0EC"/>
          </a:solidFill>
          <a:ln w="12700">
            <a:solidFill>
              <a:srgbClr val="D8E3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4088" y="5779008"/>
            <a:ext cx="107835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objectifs nécessitent une rupture de rythme, et non une simple prolongation de la tendance passée.</a:t>
            </a:r>
            <a:endParaRPr lang="en-US" sz="1150" dirty="0"/>
          </a:p>
        </p:txBody>
      </p:sp>
      <p:pic>
        <p:nvPicPr>
          <p:cNvPr id="27" name="Image 0" descr="logo_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292608" cy="17543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2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3" name="Text 1"/>
          <p:cNvSpPr/>
          <p:nvPr/>
        </p:nvSpPr>
        <p:spPr>
          <a:xfrm>
            <a:off x="3532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039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5" name="Text 3"/>
          <p:cNvSpPr/>
          <p:nvPr/>
        </p:nvSpPr>
        <p:spPr>
          <a:xfrm>
            <a:off x="49039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2755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7" name="Text 5"/>
          <p:cNvSpPr/>
          <p:nvPr/>
        </p:nvSpPr>
        <p:spPr>
          <a:xfrm>
            <a:off x="62755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6471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9" name="Text 7"/>
          <p:cNvSpPr/>
          <p:nvPr/>
        </p:nvSpPr>
        <p:spPr>
          <a:xfrm>
            <a:off x="76471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87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F4F1"/>
          </a:solidFill>
          <a:ln/>
        </p:spPr>
      </p:sp>
      <p:sp>
        <p:nvSpPr>
          <p:cNvPr id="11" name="Text 9"/>
          <p:cNvSpPr/>
          <p:nvPr/>
        </p:nvSpPr>
        <p:spPr>
          <a:xfrm>
            <a:off x="90187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90327" y="31089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</p:sp>
      <p:sp>
        <p:nvSpPr>
          <p:cNvPr id="13" name="Text 11"/>
          <p:cNvSpPr/>
          <p:nvPr/>
        </p:nvSpPr>
        <p:spPr>
          <a:xfrm>
            <a:off x="10390327" y="3108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L'ANALYSE À L'ACTION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9249" y="841248"/>
            <a:ext cx="11513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leviers prioritaires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22580" y="17373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F524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94180" y="2007108"/>
            <a:ext cx="777240" cy="777240"/>
          </a:xfrm>
          <a:prstGeom prst="ellipse">
            <a:avLst/>
          </a:prstGeom>
          <a:solidFill>
            <a:srgbClr val="D68C45"/>
          </a:solidFill>
          <a:ln/>
        </p:spPr>
      </p:sp>
      <p:pic>
        <p:nvPicPr>
          <p:cNvPr id="18" name="Image 0" descr="icons_sun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221" y="2108149"/>
            <a:ext cx="575158" cy="5751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5460" y="1883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8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51180" y="2944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Électrification décentralisée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42620" y="36118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7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solaires domestiques et mini-réseaux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7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ruraux proches des forêts prioritaires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35628" y="17373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F5240"/>
          </a:solidFill>
          <a:ln/>
        </p:spPr>
      </p:sp>
      <p:sp>
        <p:nvSpPr>
          <p:cNvPr id="23" name="Shape 20"/>
          <p:cNvSpPr/>
          <p:nvPr/>
        </p:nvSpPr>
        <p:spPr>
          <a:xfrm>
            <a:off x="5707228" y="2007108"/>
            <a:ext cx="777240" cy="777240"/>
          </a:xfrm>
          <a:prstGeom prst="ellipse">
            <a:avLst/>
          </a:prstGeom>
          <a:solidFill>
            <a:srgbClr val="D68C45"/>
          </a:solidFill>
          <a:ln/>
        </p:spPr>
      </p:sp>
      <p:pic>
        <p:nvPicPr>
          <p:cNvPr id="24" name="Image 1" descr="icons_flame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269" y="2108149"/>
            <a:ext cx="575158" cy="57515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18508" y="1883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8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4564228" y="2944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Accélération de la cuisson propre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4655668" y="36118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7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Foyers améliorés en première étape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7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/ biodigesteurs selon les contextes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48676" y="17373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F5240"/>
          </a:solidFill>
          <a:ln/>
        </p:spPr>
      </p:sp>
      <p:sp>
        <p:nvSpPr>
          <p:cNvPr id="29" name="Shape 25"/>
          <p:cNvSpPr/>
          <p:nvPr/>
        </p:nvSpPr>
        <p:spPr>
          <a:xfrm>
            <a:off x="9520276" y="2007108"/>
            <a:ext cx="777240" cy="777240"/>
          </a:xfrm>
          <a:prstGeom prst="ellipse">
            <a:avLst/>
          </a:prstGeom>
          <a:solidFill>
            <a:srgbClr val="D68C45"/>
          </a:solidFill>
          <a:ln/>
        </p:spPr>
      </p:sp>
      <p:pic>
        <p:nvPicPr>
          <p:cNvPr id="30" name="Image 2" descr="icons_shield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317" y="2108149"/>
            <a:ext cx="575158" cy="57515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31556" y="1883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8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8377276" y="2944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forestière ciblée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8468716" y="36118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7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des zones « urgence corridor »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7E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prioritaires (vulnérabilité + centralité)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02920" y="4892040"/>
            <a:ext cx="11185855" cy="896112"/>
          </a:xfrm>
          <a:prstGeom prst="roundRect">
            <a:avLst>
              <a:gd name="adj" fmla="val 9184"/>
            </a:avLst>
          </a:prstGeom>
          <a:solidFill>
            <a:srgbClr val="163A2D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77240" y="4892040"/>
            <a:ext cx="106372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central du projet : l'électrification seule ne suffit pas. Une transition énergétique efficace doit simultanément traiter les usages domestiques, la pression sur les forêts et les vulnérabilités territoriales.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0" y="598932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8C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1800" dirty="0"/>
          </a:p>
        </p:txBody>
      </p:sp>
      <p:pic>
        <p:nvPicPr>
          <p:cNvPr id="37" name="Image 3" descr="logo_embl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19" y="6400800"/>
            <a:ext cx="457541" cy="2743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14400" y="64373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 · Ministère de l'Efficacité du Service Public et de la Transformation Numérique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10957255" y="64373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1385</Words>
  <Application>Microsoft Office PowerPoint</Application>
  <PresentationFormat>Grand écran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Kokou Cyrille DAYO</cp:lastModifiedBy>
  <cp:revision>5</cp:revision>
  <dcterms:created xsi:type="dcterms:W3CDTF">2026-08-27T09:07:41Z</dcterms:created>
  <dcterms:modified xsi:type="dcterms:W3CDTF">2026-08-29T12:51:53Z</dcterms:modified>
</cp:coreProperties>
</file>